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Tìm hiểu và đề xuất Hệ thống truy vết toàn vẹn văn bản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Bài tập lớn An toàn thông tin — Nhóm 9 — GVHD: TS. Hồ Đăng Thế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MÀN 1 — ĐẶT VẤN ĐỀ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Bài toán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Tài liệu nội bộ rò rỉ qua </a:t>
            </a:r>
            <a:r>
              <a:rPr b="1"/>
              <a:t>chụp màn hình, in–scan, chụp lại điện thoại</a:t>
            </a:r>
          </a:p>
          <a:p>
            <a:pPr lvl="0"/>
            <a:r>
              <a:rPr/>
              <a:t>Chữ ký số bảo vệ </a:t>
            </a:r>
            <a:r>
              <a:rPr b="1"/>
              <a:t>bit thô</a:t>
            </a:r>
            <a:r>
              <a:rPr/>
              <a:t>: đổi một byte là chữ ký hỏng</a:t>
            </a:r>
          </a:p>
          <a:p>
            <a:pPr lvl="0"/>
            <a:r>
              <a:rPr/>
              <a:t>Nhưng kênh rò rỉ thật </a:t>
            </a:r>
            <a:r>
              <a:rPr b="1"/>
              <a:t>luôn</a:t>
            </a:r>
            <a:r>
              <a:rPr/>
              <a:t> làm mất tính toàn vẹn bit</a:t>
            </a:r>
          </a:p>
          <a:p>
            <a:pPr lvl="0"/>
            <a:r>
              <a:rPr/>
              <a:t>Cần một cơ chế sống sót qua kênh tín hiệu, không chỉ kênh số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Bốn nội dung được giao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Lý thuyết kỹ thuật </a:t>
            </a:r>
            <a:r>
              <a:rPr b="1"/>
              <a:t>Digital Watermarking</a:t>
            </a:r>
          </a:p>
          <a:p>
            <a:pPr lvl="0" indent="-342900" marL="342900">
              <a:buAutoNum type="arabicPeriod"/>
            </a:pPr>
            <a:r>
              <a:rPr/>
              <a:t>Ứng dụng watermarking trong </a:t>
            </a:r>
            <a:r>
              <a:rPr b="1"/>
              <a:t>truy vết thay đổi hình ảnh</a:t>
            </a:r>
          </a:p>
          <a:p>
            <a:pPr lvl="0" indent="-342900" marL="342900">
              <a:buAutoNum type="arabicPeriod"/>
            </a:pPr>
            <a:r>
              <a:rPr/>
              <a:t>Ứng dụng </a:t>
            </a:r>
            <a:r>
              <a:rPr b="1"/>
              <a:t>ký số</a:t>
            </a:r>
            <a:r>
              <a:rPr/>
              <a:t> trong bảo vệ thông tin truy vết</a:t>
            </a:r>
          </a:p>
          <a:p>
            <a:pPr lvl="0" indent="-342900" marL="342900">
              <a:buAutoNum type="arabicPeriod"/>
            </a:pPr>
            <a:r>
              <a:rPr b="1"/>
              <a:t>So sánh</a:t>
            </a:r>
            <a:r>
              <a:rPr/>
              <a:t> với các kỹ thuật xác minh toàn vẹn khác</a:t>
            </a:r>
          </a:p>
          <a:p>
            <a:pPr lvl="0" indent="0" marL="0">
              <a:buNone/>
            </a:pPr>
            <a:r>
              <a:rPr b="1"/>
              <a:t>Nghịch lý “văn bản vs hình ảnh”:</a:t>
            </a:r>
            <a:r>
              <a:rPr/>
              <a:t> hệ thống render trang PDF thành ảnh rồi nhúng — bắc cầu cả hai.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MÀN 2 — LÝ THUYẾT WATERMARKING (Yêu cầu 1)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Phân loại kỹ thuật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Theo </a:t>
            </a:r>
            <a:r>
              <a:rPr b="1"/>
              <a:t>miền nhúng</a:t>
            </a:r>
            <a:r>
              <a:rPr/>
              <a:t>: miền không gian vs miền tần số (DCT, DWT, DFT)</a:t>
            </a:r>
          </a:p>
          <a:p>
            <a:pPr lvl="0"/>
            <a:r>
              <a:rPr/>
              <a:t>Theo </a:t>
            </a:r>
            <a:r>
              <a:rPr b="1"/>
              <a:t>mục tiêu</a:t>
            </a:r>
            <a:r>
              <a:rPr/>
              <a:t>: bền vững (robust) / bán mỏng manh (semi-fragile) / mỏng manh</a:t>
            </a:r>
          </a:p>
          <a:p>
            <a:pPr lvl="0"/>
            <a:r>
              <a:rPr/>
              <a:t>Theo </a:t>
            </a:r>
            <a:r>
              <a:rPr b="1"/>
              <a:t>khả năng trích xuất</a:t>
            </a:r>
            <a:r>
              <a:rPr/>
              <a:t>: mù (blind) vs không mù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Tam giác đánh đổi cốt lõi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Độ bền ↔ Tính vô hình ↔ Dung lượng</a:t>
            </a:r>
          </a:p>
          <a:p>
            <a:pPr lvl="0"/>
            <a:r>
              <a:rPr/>
              <a:t>Không thể tối ưu đồng thời cả ba</a:t>
            </a:r>
          </a:p>
          <a:p>
            <a:pPr lvl="0"/>
            <a:r>
              <a:rPr/>
              <a:t>SplitBind đo được đánh đổi này bằng số thật: PSNR </a:t>
            </a:r>
            <a:r>
              <a:rPr b="1"/>
              <a:t>69,31 → 42,47 dB</a:t>
            </a:r>
            <a:r>
              <a:rPr/>
              <a:t> khi đổi thế hệ</a:t>
            </a:r>
          </a:p>
          <a:p>
            <a:pPr lvl="0"/>
            <a:r>
              <a:rPr/>
              <a:t>Cả hai vẫn trên ngưỡng cổng 38 dB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Điều chế chỉ số lượng tử (QIM)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Lượng tử hoá hệ số về lưới chẵn/lẻ theo bit cần nhúng</a:t>
                </a:r>
              </a:p>
              <a:p>
                <a:pPr lvl="0"/>
                <a:r>
                  <a:rPr/>
                  <a:t>Bước lượng tử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  <a:r>
                  <a:rPr/>
                  <a:t> quyết định đánh đổi bền ↔ vô hình</a:t>
                </a:r>
              </a:p>
              <a:p>
                <a:pPr lvl="0"/>
                <a:r>
                  <a:rPr/>
                  <a:t>Giải mã </a:t>
                </a:r>
                <a:r>
                  <a:rPr b="1"/>
                  <a:t>mù</a:t>
                </a:r>
                <a:r>
                  <a:rPr/>
                  <a:t>: không cần ảnh gốc</a:t>
                </a:r>
              </a:p>
              <a:p>
                <a:pPr lvl="0"/>
                <a:r>
                  <a:rPr/>
                  <a:t>SplitBind dùng Parity-QIM trên dải trung tần, kết hợp trải phổ 64 chip/bit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MÀN 3 — TRUY VẾT VÀ TOÀN VẸN (Yêu cầu 2)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Bài toán A — Truy vết nguồn phát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Payload chuẩn hoá </a:t>
            </a:r>
            <a:r>
              <a:rPr b="1"/>
              <a:t>23 byte</a:t>
            </a:r>
            <a:r>
              <a:rPr/>
              <a:t>: </a:t>
            </a:r>
            <a:r>
              <a:rPr>
                <a:latin typeface="Courier"/>
              </a:rPr>
              <a:t>"SB"</a:t>
            </a:r>
            <a:r>
              <a:rPr/>
              <a:t> + version + UUID 16B + CRC-32</a:t>
            </a:r>
          </a:p>
          <a:p>
            <a:pPr lvl="0"/>
            <a:r>
              <a:rPr/>
              <a:t>Reed–Solomon GF(256), 16 parity → codeword </a:t>
            </a:r>
            <a:r>
              <a:rPr b="1"/>
              <a:t>39 byte</a:t>
            </a:r>
          </a:p>
          <a:p>
            <a:pPr lvl="0"/>
            <a:r>
              <a:rPr/>
              <a:t>Sửa được tối đa 8 symbol lỗi</a:t>
            </a:r>
          </a:p>
          <a:p>
            <a:pPr lvl="0"/>
            <a:r>
              <a:rPr/>
              <a:t>Mỗi tile mang </a:t>
            </a:r>
            <a:r>
              <a:rPr b="1"/>
              <a:t>trọn vẹn</a:t>
            </a:r>
            <a:r>
              <a:rPr/>
              <a:t> codeword một cách độc lập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Bài toán B — Phát hiện và định vị sửa đổi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Thủy vân </a:t>
            </a:r>
            <a:r>
              <a:rPr b="1"/>
              <a:t>bán mỏng manh</a:t>
            </a:r>
            <a:r>
              <a:rPr/>
              <a:t>, lưới khối 128×128</a:t>
            </a:r>
          </a:p>
          <a:p>
            <a:pPr lvl="0"/>
            <a:r>
              <a:rPr/>
              <a:t>Đặc trưng DCT tần thấp + thẻ </a:t>
            </a:r>
            <a:r>
              <a:rPr b="1"/>
              <a:t>HMAC-SHA256</a:t>
            </a:r>
            <a:r>
              <a:rPr/>
              <a:t> cắt 4 byte</a:t>
            </a:r>
          </a:p>
          <a:p>
            <a:pPr lvl="0"/>
            <a:r>
              <a:rPr/>
              <a:t>Phân tán khối đối tác (Partner Ring) chống tấn công giả thẻ</a:t>
            </a:r>
          </a:p>
          <a:p>
            <a:pPr lvl="0"/>
            <a:r>
              <a:rPr/>
              <a:t>Cơ chế </a:t>
            </a:r>
            <a:r>
              <a:rPr b="1"/>
              <a:t>fail-safe</a:t>
            </a:r>
            <a:r>
              <a:rPr/>
              <a:t>: mismatch ≥ 10% ⇒ xoá danh sách nghi vấn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Kết quả định vị can thiệp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48 hàng: 12 trang × 4 loại can thiệp</a:t>
            </a:r>
          </a:p>
          <a:p>
            <a:pPr lvl="0"/>
            <a:r>
              <a:rPr b="1"/>
              <a:t>IoU tổng hợp = 0,089981</a:t>
            </a:r>
          </a:p>
          <a:p>
            <a:pPr lvl="0"/>
            <a:r>
              <a:rPr b="1"/>
              <a:t>38/48 hàng kích hoạt fail-safe</a:t>
            </a:r>
            <a:r>
              <a:rPr/>
              <a:t> ⇒ kéo IoU xuống</a:t>
            </a:r>
          </a:p>
          <a:p>
            <a:pPr lvl="0"/>
            <a:r>
              <a:rPr/>
              <a:t>Ranh giới thật của phương pháp semi-fragile dựa khối DCT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MÀN 4 — KÝ SỐ (Yêu cầu 3)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Kiến trúc “Nhúng trước, Ký sau”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o</m:t>
                          </m:r>
                          <m:r>
                            <m:t>u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SHA-256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W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JCS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nor/>
                          <m:sty m:val="p"/>
                        </m:rPr>
                        <m:t>output_sha256</m:t>
                      </m:r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o</m:t>
                          </m:r>
                          <m:r>
                            <m:t>u</m:t>
                          </m:r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}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Ed25519.Sign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M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Manifest chuẩn tắc </a:t>
                </a:r>
                <a:r>
                  <a:rPr b="1"/>
                  <a:t>RFC 8785</a:t>
                </a:r>
                <a:r>
                  <a:rPr/>
                  <a:t> ⇒ độc lập thư viện tuần tự hoá.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Giải quyết mâu thuẫn watermark ↔ chữ ký số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Hai cơ chế, hai mô hình đe doạ khác nhau:</a:t>
            </a:r>
          </a:p>
          <a:p>
            <a:pPr lvl="0"/>
            <a:r>
              <a:rPr b="1"/>
              <a:t>Chữ ký số</a:t>
            </a:r>
            <a:r>
              <a:rPr/>
              <a:t> — kênh số nguyên bản, toàn vẹn bit, chống chối bỏ</a:t>
            </a:r>
          </a:p>
          <a:p>
            <a:pPr lvl="0"/>
            <a:r>
              <a:rPr b="1"/>
              <a:t>Thủy vân bền vững</a:t>
            </a:r>
            <a:r>
              <a:rPr/>
              <a:t> — kênh analog/lossy, trích định danh để tra cứu manifest</a:t>
            </a:r>
          </a:p>
          <a:p>
            <a:pPr lvl="0" indent="0" marL="0">
              <a:buNone/>
            </a:pPr>
            <a:r>
              <a:rPr/>
              <a:t>⇒ Phòng thủ theo chiều sâu, </a:t>
            </a:r>
            <a:r>
              <a:rPr b="1"/>
              <a:t>không</a:t>
            </a:r>
            <a:r>
              <a:rPr/>
              <a:t> mâu thuẫn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cấp độ minh bạch trạng thái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Cấp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Trạng thái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Payload + ECC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[Implemented]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Kiến trúc liên kết watermark ↔ manifest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[Implemented]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Vận hành thực tế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[Production]</a:t>
                      </a:r>
                      <a:r>
                        <a:rPr/>
                        <a:t> — chỉ toàn vẹn tệp chính xác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MÀN 5 — SO SÁNH (Yêu cầu 4)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 trận 7 tiêu chí × 6 kỹ thuật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 sánh: Hash · HMAC · Chữ ký số · Robust WM · Semi-fragile WM · Steganography</a:t>
            </a:r>
          </a:p>
          <a:p>
            <a:pPr lvl="0" indent="0" marL="0">
              <a:buNone/>
            </a:pPr>
            <a:r>
              <a:rPr/>
              <a:t>Bảy tiêu chí: mục tiêu an ninh · độ bền trước biến đổi · khả năng định vị · độ nhạy từng bit · dung lượng · quản lý khoá · giá trị pháp lý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cặp tương phản then chốt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Watermarking vs Steganography</a:t>
            </a:r>
            <a:r>
              <a:rPr/>
              <a:t> — công khai sự tồn tại vs giấu sự tồn tại</a:t>
            </a:r>
          </a:p>
          <a:p>
            <a:pPr lvl="0"/>
            <a:r>
              <a:rPr b="1"/>
              <a:t>Watermarking vs Chữ ký số</a:t>
            </a:r>
            <a:r>
              <a:rPr/>
              <a:t> — kênh thị giác vs kênh bit nguyên bản</a:t>
            </a:r>
          </a:p>
          <a:p>
            <a:pPr lvl="0"/>
            <a:r>
              <a:rPr b="1"/>
              <a:t>CRC-32 vs HMAC</a:t>
            </a:r>
            <a:r>
              <a:rPr/>
              <a:t> — lỗi ngẫu nhiên vs toàn vẹn mật mã có khoá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MÀN 6 — HIỆN THỰC, THỰC NGHIỆM, KẾT LUẬN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Hệ thống chạy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React + TypeScript + Vite · Django REST · worker Python</a:t>
            </a:r>
          </a:p>
          <a:p>
            <a:pPr lvl="0"/>
            <a:r>
              <a:rPr/>
              <a:t>Caddy + Docker Compose trên Azure VM, TLS Let’s Encrypt tự động</a:t>
            </a:r>
          </a:p>
          <a:p>
            <a:pPr lvl="0"/>
            <a:r>
              <a:rPr/>
              <a:t>PostgreSQL (Neon) + lưu trữ đối tượng S3-compatible</a:t>
            </a:r>
          </a:p>
          <a:p>
            <a:pPr lvl="0"/>
            <a:r>
              <a:rPr/>
              <a:t>Ảnh container ghim theo </a:t>
            </a:r>
            <a:r>
              <a:rPr b="1"/>
              <a:t>digest bất biến</a:t>
            </a:r>
            <a:r>
              <a:rPr/>
              <a:t>, không dùng tag động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Số liệu thực nghiệm đã khoá — thế hệ V1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Chỉ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Giá trị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PSNR trang 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41,69 dB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SSIM trang 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0,9825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Quy mô benchmark V1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32.736 hàng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Tỷ lệ gán sai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0,00%</a:t>
                      </a:r>
                      <a:r>
                        <a:rPr/>
                        <a:t> (0/682)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IoU định vị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0,089981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Tiến hoá thuật toán V1 → V3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Cùng corpus, cùng cổng, cùng mẫu số: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Chỉ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V3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JPEG-70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0/12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9/12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Resize-0.75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0/12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8/12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Crop-0.25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1/3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9/12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Lỗi thực thi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31/682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0/352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Bốn thay đổi: dải nhúng </a:t>
            </a:r>
            <a:r>
              <a:rPr>
                <a:latin typeface="Courier"/>
              </a:rPr>
              <a:t>HL→LL</a:t>
            </a:r>
            <a:r>
              <a:rPr/>
              <a:t> · bước lượng tử · đồng bộ 8 giả thuyết · </a:t>
            </a:r>
            <a:r>
              <a:rPr b="1"/>
              <a:t>trải phổ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Chẩn đoán nguyên nhân gốc — đóng góp của nhóm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Bộ giải mã chỉ sinh giả thuyết hình học cho </a:t>
            </a:r>
            <a:r>
              <a:rPr b="1"/>
              <a:t>ba</a:t>
            </a:r>
            <a:r>
              <a:rPr/>
              <a:t> trường hợp: giữ nguyên, co giãn đều, và cắt cúp tại </a:t>
            </a:r>
            <a:r>
              <a:rPr b="1"/>
              <a:t>đúng một tỉ lệ cứng</a:t>
            </a:r>
            <a:r>
              <a:rPr/>
              <a:t> </a:t>
            </a:r>
            <a:r>
              <a:rPr>
                <a:latin typeface="Courier"/>
              </a:rPr>
              <a:t>0,8660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Tương quan không ngoại lệ trên 286 hàng đo:</a:t>
            </a:r>
          </a:p>
          <a:p>
            <a:pPr lvl="0"/>
            <a:r>
              <a:rPr/>
              <a:t>Có giả thuyết đúng ⇒ </a:t>
            </a:r>
            <a:r>
              <a:rPr b="1"/>
              <a:t>7–11/12</a:t>
            </a:r>
          </a:p>
          <a:p>
            <a:pPr lvl="0"/>
            <a:r>
              <a:rPr/>
              <a:t>Thiếu giả thuyết đúng ⇒ </a:t>
            </a:r>
            <a:r>
              <a:rPr b="1"/>
              <a:t>0–2/12</a:t>
            </a:r>
          </a:p>
          <a:p>
            <a:pPr lvl="0" indent="0" marL="0">
              <a:buNone/>
            </a:pPr>
            <a:r>
              <a:rPr/>
              <a:t>Nghịch lý chứng minh: crop </a:t>
            </a:r>
            <a:r>
              <a:rPr b="1"/>
              <a:t>10%</a:t>
            </a:r>
            <a:r>
              <a:rPr/>
              <a:t> (2/12) tệ hơn crop </a:t>
            </a:r>
            <a:r>
              <a:rPr b="1"/>
              <a:t>25%</a:t>
            </a:r>
            <a:r>
              <a:rPr/>
              <a:t> (7/12) — vì 25% chính là tỉ lệ được cứng hoá.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Kiểm chứng: bóc viền letterbox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Màn hình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Thô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Sau khi bóc viền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1920×1080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0/12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9/12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1366×768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0/12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0/12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9/12 </a:t>
            </a:r>
            <a:r>
              <a:rPr b="1"/>
              <a:t>đúng bằng</a:t>
            </a:r>
            <a:r>
              <a:rPr/>
              <a:t> tỉ lệ resize-0.50</a:t>
            </a:r>
          </a:p>
          <a:p>
            <a:pPr lvl="0"/>
            <a:r>
              <a:rPr b="1"/>
              <a:t>Không đổi một tham số nào</a:t>
            </a:r>
            <a:r>
              <a:rPr/>
              <a:t> của thủy vân</a:t>
            </a:r>
          </a:p>
          <a:p>
            <a:pPr lvl="0"/>
            <a:r>
              <a:rPr/>
              <a:t>~20 dòng tiền xử lý tất định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 lớp thất bại, không phải một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Lớp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Dấu hiệu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Cách sửa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Không tạo được ứng viên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insufficient_sync_evidence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Chuẩn hoá khung — </a:t>
                      </a:r>
                      <a:r>
                        <a:rPr b="1"/>
                        <a:t>đã kiểm chứng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Tạo ứng viên </a:t>
                      </a:r>
                      <a:r>
                        <a:rPr b="1"/>
                        <a:t>sai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payload_not_detected</a:t>
                      </a:r>
                      <a:r>
                        <a:rPr/>
                        <a:t> + đổi kích thước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Ước lượng tỉ lệ cắt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Sóng mang chết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payload_not_detected</a:t>
                      </a:r>
                      <a:r>
                        <a:rPr/>
                        <a:t>, không đổi kích thước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Giới hạn thật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⇒ </a:t>
            </a:r>
            <a:r>
              <a:rPr b="1"/>
              <a:t>Hai trong ba lớp không phải vấn đề của thủy vân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Đạt được:</a:t>
            </a:r>
            <a:r>
              <a:rPr/>
              <a:t> bốn nội dung đề bài, kiểm chứng bằng hệ thống chạy thật, 0 gán sai trên 482 hàng, pregate tái lập được.</a:t>
            </a:r>
          </a:p>
          <a:p>
            <a:pPr lvl="0" indent="0" marL="0">
              <a:buNone/>
            </a:pPr>
            <a:r>
              <a:rPr b="1"/>
              <a:t>Đóng góp:</a:t>
            </a:r>
            <a:r>
              <a:rPr/>
              <a:t> chẩn đoán nguyên nhân gốc + phép kiểm chứng có tính tiên đoán (0/12 → 9/12).</a:t>
            </a:r>
          </a:p>
          <a:p>
            <a:pPr lvl="0" indent="0" marL="0">
              <a:buNone/>
            </a:pPr>
            <a:r>
              <a:rPr b="1"/>
              <a:t>Giới hạn — nói rõ:</a:t>
            </a:r>
            <a:r>
              <a:rPr/>
              <a:t> thủy vân bền vững </a:t>
            </a:r>
            <a:r>
              <a:rPr b="1"/>
              <a:t>chưa đạt cổng phát hành</a:t>
            </a:r>
            <a:r>
              <a:rPr/>
              <a:t>, giữ ở tầng nghiên cứu; production chỉ chạy toàn vẹn tệp chính xác. </a:t>
            </a:r>
            <a:r>
              <a:rPr b="1"/>
              <a:t>Không kết quả nào chứng minh danh tính người làm rò rỉ.</a:t>
            </a:r>
          </a:p>
          <a:p>
            <a:pPr lvl="0" indent="0" marL="0">
              <a:buNone/>
            </a:pPr>
            <a:r>
              <a:rPr b="1"/>
              <a:t>Hướng tiếp:</a:t>
            </a:r>
            <a:r>
              <a:rPr/>
              <a:t> chuẩn hoá khung → ước lượng tỉ lệ cắt → hai trục độc lập → chọn sóng mang theo nội dung.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Tìm hiểu và đề xuất Hệ thống truy vết toàn vẹn văn bản</dc:title>
  <dc:creator/>
  <cp:keywords/>
  <dcterms:created xsi:type="dcterms:W3CDTF">2026-09-11T05:05:03Z</dcterms:created>
  <dcterms:modified xsi:type="dcterms:W3CDTF">2026-09-11T05:05:03Z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Bài tập lớn An toàn thông tin — Nhóm 9 — GVHD: TS. Hồ Đăng Thế</vt:lpwstr>
  </property>
</Properties>
</file>